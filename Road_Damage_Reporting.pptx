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09ACE48-890B-894C-C54A-F13C6FA48AB3}">
          <p14:sldIdLst>
            <p14:sldId id="256"/>
            <p14:sldId id="257"/>
            <p14:sldId id="258"/>
          </p14:sldIdLst>
        </p14:section>
        <p14:section name="Design" id="{8BCD7457-8FC1-B80C-1DEA-314924A46140}">
          <p14:sldIdLst>
            <p14:sldId id="259"/>
            <p14:sldId id="260"/>
            <p14:sldId id="261"/>
          </p14:sldIdLst>
        </p14:section>
        <p14:section name="Delivery" id="{47103844-16D8-7E5C-2442-0F0EFB6E09B3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855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MERN-based system that lets citizens report potholes and damaged roads, and lets administrators manage those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road damage matters and how a simple reporting platform closes the gap between citizens and authorities.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 map directly to the project brief: MERN demonstration, CRUD, REST APIs, React UI, authentication with roles, and clear presentation of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flow: the React UI calls Express endpoints, which use Mongoose models to read and write MongoDB. JWT handles authentication, Multer handles image uploads, and Axios connects the frontend to the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collections: Report (location, damage type, image, description, status, reporter) and User (credentials and role). Each report references the user who created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Create, Read, Update and Delete are all covered for reports. Admin-only routes are protected by JWT middleware that checks the user's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Passwords are hashed with bcrypt, login returns a JWT, and middleware checks the role on every protected route. React shows different screens depending on the logged-in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outcome: a complete MERN application meeting every objective. Close with possible extensions such as map view, notifications and analytics. 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234440"/>
            <a:ext cx="52120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063240"/>
            <a:ext cx="4937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Road Damage Reporting  |  MERN Stack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A404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Road Damage Reporting  |  MERN Stack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A404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352698" y="261257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MERN STACK PROJECT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274320" y="18288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Road Damage Reporting System</a:t>
            </a: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274320" y="1907177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Report potholes and damaged roads with location, photo and description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PRESENTED BY:</a:t>
            </a:r>
          </a:p>
          <a:p>
            <a:pPr marL="0" indent="0">
              <a:buNone/>
            </a:pPr>
            <a:r>
              <a:rPr lang="en-US" dirty="0" err="1"/>
              <a:t>A.Snehil</a:t>
            </a:r>
            <a:r>
              <a:rPr lang="en-US" dirty="0"/>
              <a:t> –[25MVCSMR0366]</a:t>
            </a:r>
          </a:p>
          <a:p>
            <a:r>
              <a:rPr lang="en-US" sz="1800" dirty="0"/>
              <a:t>Pramodh </a:t>
            </a:r>
            <a:r>
              <a:rPr lang="en-US" sz="1800" dirty="0" err="1"/>
              <a:t>biradar</a:t>
            </a:r>
            <a:r>
              <a:rPr lang="en-US" sz="1800" dirty="0"/>
              <a:t> </a:t>
            </a:r>
            <a:r>
              <a:rPr lang="en-US" dirty="0"/>
              <a:t>–[25MVCSMR0431]</a:t>
            </a:r>
          </a:p>
          <a:p>
            <a:r>
              <a:rPr lang="en-US" sz="1800" dirty="0"/>
              <a:t>Thakur Shashank </a:t>
            </a:r>
            <a:r>
              <a:rPr lang="en-US" sz="1800" dirty="0" err="1"/>
              <a:t>singh</a:t>
            </a:r>
            <a:r>
              <a:rPr lang="en-US" sz="1800" dirty="0"/>
              <a:t> </a:t>
            </a:r>
            <a:r>
              <a:rPr lang="en-US" dirty="0"/>
              <a:t>–[25MVCSMR0443]</a:t>
            </a:r>
          </a:p>
          <a:p>
            <a:r>
              <a:rPr lang="en-US" dirty="0" err="1"/>
              <a:t>M.Manish</a:t>
            </a:r>
            <a:r>
              <a:rPr lang="en-US" dirty="0"/>
              <a:t> –[25MVCSMR0415]</a:t>
            </a:r>
            <a:endParaRPr lang="en-US" sz="1800" dirty="0"/>
          </a:p>
        </p:txBody>
      </p:sp>
      <p:sp>
        <p:nvSpPr>
          <p:cNvPr id="5" name="Hero circle"/>
          <p:cNvSpPr/>
          <p:nvPr/>
        </p:nvSpPr>
        <p:spPr>
          <a:xfrm>
            <a:off x="6309360" y="1005840"/>
            <a:ext cx="2286000" cy="2286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Hero icon" descr="Road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45920"/>
            <a:ext cx="1005840" cy="1005840"/>
          </a:xfrm>
          <a:prstGeom prst="rect">
            <a:avLst/>
          </a:prstGeom>
        </p:spPr>
      </p:pic>
      <p:sp>
        <p:nvSpPr>
          <p:cNvPr id="7" name="Stack line"/>
          <p:cNvSpPr txBox="1"/>
          <p:nvPr/>
        </p:nvSpPr>
        <p:spPr>
          <a:xfrm>
            <a:off x="566928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MongoDB  ·  Express  ·  React  ·  Node.js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280160"/>
            <a:ext cx="397764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 circle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roblem icon" descr="Probl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274320" cy="274320"/>
          </a:xfrm>
          <a:prstGeom prst="rect">
            <a:avLst/>
          </a:prstGeom>
        </p:spPr>
      </p:pic>
      <p:sp>
        <p:nvSpPr>
          <p:cNvPr id="6" name="Problem heading"/>
          <p:cNvSpPr txBox="1"/>
          <p:nvPr/>
        </p:nvSpPr>
        <p:spPr>
          <a:xfrm>
            <a:off x="141732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7" name="Problem bullets"/>
          <p:cNvSpPr txBox="1"/>
          <p:nvPr/>
        </p:nvSpPr>
        <p:spPr>
          <a:xfrm>
            <a:off x="731520" y="228600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Potholes cause accidents, vehicle damage and traffic delays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Citizens have no quick, trusted way to report road damage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Authorities lack organised, location-tagged data to prioritise repairs</a:t>
            </a:r>
            <a:endParaRPr lang="en-US" sz="1400" dirty="0"/>
          </a:p>
        </p:txBody>
      </p:sp>
      <p:sp>
        <p:nvSpPr>
          <p:cNvPr id="8" name="Solution card"/>
          <p:cNvSpPr/>
          <p:nvPr/>
        </p:nvSpPr>
        <p:spPr>
          <a:xfrm>
            <a:off x="4709160" y="1280160"/>
            <a:ext cx="397764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olution circle"/>
          <p:cNvSpPr/>
          <p:nvPr/>
        </p:nvSpPr>
        <p:spPr>
          <a:xfrm>
            <a:off x="498348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olution icon" descr="Solu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645920"/>
            <a:ext cx="274320" cy="274320"/>
          </a:xfrm>
          <a:prstGeom prst="rect">
            <a:avLst/>
          </a:prstGeom>
        </p:spPr>
      </p:pic>
      <p:sp>
        <p:nvSpPr>
          <p:cNvPr id="11" name="Solution heading"/>
          <p:cNvSpPr txBox="1"/>
          <p:nvPr/>
        </p:nvSpPr>
        <p:spPr>
          <a:xfrm>
            <a:off x="566928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Our solution</a:t>
            </a:r>
            <a:endParaRPr lang="en-US" sz="2200" dirty="0"/>
          </a:p>
        </p:txBody>
      </p:sp>
      <p:sp>
        <p:nvSpPr>
          <p:cNvPr id="12" name="Solution bullets"/>
          <p:cNvSpPr txBox="1"/>
          <p:nvPr/>
        </p:nvSpPr>
        <p:spPr>
          <a:xfrm>
            <a:off x="4983480" y="228600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Citizens report damage with location, type, photo and description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Admins review reports and update repair status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records stored and managed in MongoDB through REST APIs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A404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Project Objectives</a:t>
            </a:r>
            <a:endParaRPr lang="en-US" sz="3400" dirty="0"/>
          </a:p>
        </p:txBody>
      </p:sp>
      <p:sp>
        <p:nvSpPr>
          <p:cNvPr id="3" name="Objective card 1"/>
          <p:cNvSpPr/>
          <p:nvPr/>
        </p:nvSpPr>
        <p:spPr>
          <a:xfrm>
            <a:off x="45720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bjective 1 circle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Objective 1 icon" descr="Objectiv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6" name="Objective title 1"/>
          <p:cNvSpPr txBox="1"/>
          <p:nvPr/>
        </p:nvSpPr>
        <p:spPr>
          <a:xfrm>
            <a:off x="1325880" y="1463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MERN Stack</a:t>
            </a:r>
            <a:endParaRPr lang="en-US" sz="1600" dirty="0"/>
          </a:p>
        </p:txBody>
      </p:sp>
      <p:sp>
        <p:nvSpPr>
          <p:cNvPr id="7" name="Objective text 1"/>
          <p:cNvSpPr txBox="1"/>
          <p:nvPr/>
        </p:nvSpPr>
        <p:spPr>
          <a:xfrm>
            <a:off x="64008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Demonstrate end-to-end development</a:t>
            </a:r>
            <a:endParaRPr lang="en-US" sz="1400" dirty="0"/>
          </a:p>
        </p:txBody>
      </p:sp>
      <p:sp>
        <p:nvSpPr>
          <p:cNvPr id="8" name="Objective card 2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Objective 2 circle"/>
          <p:cNvSpPr/>
          <p:nvPr/>
        </p:nvSpPr>
        <p:spPr>
          <a:xfrm>
            <a:off x="347472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Objective 2 icon" descr="Objectiv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600200"/>
            <a:ext cx="274320" cy="274320"/>
          </a:xfrm>
          <a:prstGeom prst="rect">
            <a:avLst/>
          </a:prstGeom>
        </p:spPr>
      </p:pic>
      <p:sp>
        <p:nvSpPr>
          <p:cNvPr id="11" name="Objective title 2"/>
          <p:cNvSpPr txBox="1"/>
          <p:nvPr/>
        </p:nvSpPr>
        <p:spPr>
          <a:xfrm>
            <a:off x="4160520" y="1463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CRUD</a:t>
            </a:r>
            <a:endParaRPr lang="en-US" sz="1600" dirty="0"/>
          </a:p>
        </p:txBody>
      </p:sp>
      <p:sp>
        <p:nvSpPr>
          <p:cNvPr id="12" name="Objective text 2"/>
          <p:cNvSpPr txBox="1"/>
          <p:nvPr/>
        </p:nvSpPr>
        <p:spPr>
          <a:xfrm>
            <a:off x="347472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Full create, read, update, delete in MongoDB</a:t>
            </a:r>
            <a:endParaRPr lang="en-US" sz="1400" dirty="0"/>
          </a:p>
        </p:txBody>
      </p:sp>
      <p:sp>
        <p:nvSpPr>
          <p:cNvPr id="13" name="Objective card 3"/>
          <p:cNvSpPr/>
          <p:nvPr/>
        </p:nvSpPr>
        <p:spPr>
          <a:xfrm>
            <a:off x="612648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Objective 3 circle"/>
          <p:cNvSpPr/>
          <p:nvPr/>
        </p:nvSpPr>
        <p:spPr>
          <a:xfrm>
            <a:off x="630936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Objective 3 icon" descr="Objectiv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600200"/>
            <a:ext cx="274320" cy="274320"/>
          </a:xfrm>
          <a:prstGeom prst="rect">
            <a:avLst/>
          </a:prstGeom>
        </p:spPr>
      </p:pic>
      <p:sp>
        <p:nvSpPr>
          <p:cNvPr id="16" name="Objective title 3"/>
          <p:cNvSpPr txBox="1"/>
          <p:nvPr/>
        </p:nvSpPr>
        <p:spPr>
          <a:xfrm>
            <a:off x="6995160" y="1463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REST APIs</a:t>
            </a:r>
            <a:endParaRPr lang="en-US" sz="1600" dirty="0"/>
          </a:p>
        </p:txBody>
      </p:sp>
      <p:sp>
        <p:nvSpPr>
          <p:cNvPr id="17" name="Objective text 3"/>
          <p:cNvSpPr txBox="1"/>
          <p:nvPr/>
        </p:nvSpPr>
        <p:spPr>
          <a:xfrm>
            <a:off x="630936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Built with Node.js and Express.js</a:t>
            </a:r>
            <a:endParaRPr lang="en-US" sz="1400" dirty="0"/>
          </a:p>
        </p:txBody>
      </p:sp>
      <p:sp>
        <p:nvSpPr>
          <p:cNvPr id="18" name="Objective card 4"/>
          <p:cNvSpPr/>
          <p:nvPr/>
        </p:nvSpPr>
        <p:spPr>
          <a:xfrm>
            <a:off x="45720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bjective 4 circle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Objective 4 icon" descr="Objectiv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46120"/>
            <a:ext cx="274320" cy="274320"/>
          </a:xfrm>
          <a:prstGeom prst="rect">
            <a:avLst/>
          </a:prstGeom>
        </p:spPr>
      </p:pic>
      <p:sp>
        <p:nvSpPr>
          <p:cNvPr id="21" name="Objective title 4"/>
          <p:cNvSpPr txBox="1"/>
          <p:nvPr/>
        </p:nvSpPr>
        <p:spPr>
          <a:xfrm>
            <a:off x="1325880" y="3108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React UI</a:t>
            </a:r>
            <a:endParaRPr lang="en-US" sz="1600" dirty="0"/>
          </a:p>
        </p:txBody>
      </p:sp>
      <p:sp>
        <p:nvSpPr>
          <p:cNvPr id="22" name="Objective text 4"/>
          <p:cNvSpPr txBox="1"/>
          <p:nvPr/>
        </p:nvSpPr>
        <p:spPr>
          <a:xfrm>
            <a:off x="640080" y="3749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Clean, responsive frontend in React.js</a:t>
            </a:r>
            <a:endParaRPr lang="en-US" sz="1400" dirty="0"/>
          </a:p>
        </p:txBody>
      </p:sp>
      <p:sp>
        <p:nvSpPr>
          <p:cNvPr id="23" name="Objective card 5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Objective 5 circle"/>
          <p:cNvSpPr/>
          <p:nvPr/>
        </p:nvSpPr>
        <p:spPr>
          <a:xfrm>
            <a:off x="3474720" y="3108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Objective 5 icon" descr="Objectiv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246120"/>
            <a:ext cx="274320" cy="274320"/>
          </a:xfrm>
          <a:prstGeom prst="rect">
            <a:avLst/>
          </a:prstGeom>
        </p:spPr>
      </p:pic>
      <p:sp>
        <p:nvSpPr>
          <p:cNvPr id="26" name="Objective title 5"/>
          <p:cNvSpPr txBox="1"/>
          <p:nvPr/>
        </p:nvSpPr>
        <p:spPr>
          <a:xfrm>
            <a:off x="4160520" y="3108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Auth &amp; Roles</a:t>
            </a:r>
            <a:endParaRPr lang="en-US" sz="1600" dirty="0"/>
          </a:p>
        </p:txBody>
      </p:sp>
      <p:sp>
        <p:nvSpPr>
          <p:cNvPr id="27" name="Objective text 5"/>
          <p:cNvSpPr txBox="1"/>
          <p:nvPr/>
        </p:nvSpPr>
        <p:spPr>
          <a:xfrm>
            <a:off x="3474720" y="3749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JWT login with role-based access</a:t>
            </a:r>
            <a:endParaRPr lang="en-US" sz="1400" dirty="0"/>
          </a:p>
        </p:txBody>
      </p:sp>
      <p:sp>
        <p:nvSpPr>
          <p:cNvPr id="28" name="Objective card 6"/>
          <p:cNvSpPr/>
          <p:nvPr/>
        </p:nvSpPr>
        <p:spPr>
          <a:xfrm>
            <a:off x="612648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Objective 6 circle"/>
          <p:cNvSpPr/>
          <p:nvPr/>
        </p:nvSpPr>
        <p:spPr>
          <a:xfrm>
            <a:off x="6309360" y="3108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Objective 6 icon" descr="Objectiv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246120"/>
            <a:ext cx="274320" cy="274320"/>
          </a:xfrm>
          <a:prstGeom prst="rect">
            <a:avLst/>
          </a:prstGeom>
        </p:spPr>
      </p:pic>
      <p:sp>
        <p:nvSpPr>
          <p:cNvPr id="31" name="Objective title 6"/>
          <p:cNvSpPr txBox="1"/>
          <p:nvPr/>
        </p:nvSpPr>
        <p:spPr>
          <a:xfrm>
            <a:off x="6995160" y="3108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Clear Results</a:t>
            </a:r>
            <a:endParaRPr lang="en-US" sz="1600" dirty="0"/>
          </a:p>
        </p:txBody>
      </p:sp>
      <p:sp>
        <p:nvSpPr>
          <p:cNvPr id="32" name="Objective text 6"/>
          <p:cNvSpPr txBox="1"/>
          <p:nvPr/>
        </p:nvSpPr>
        <p:spPr>
          <a:xfrm>
            <a:off x="6309360" y="3749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Dashboard showing reports and status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A404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Tier 1"/>
          <p:cNvSpPr/>
          <p:nvPr/>
        </p:nvSpPr>
        <p:spPr>
          <a:xfrm>
            <a:off x="480060" y="1280160"/>
            <a:ext cx="1737360" cy="178308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ier 1 circle"/>
          <p:cNvSpPr/>
          <p:nvPr/>
        </p:nvSpPr>
        <p:spPr>
          <a:xfrm>
            <a:off x="107442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Tier 1 icon" descr="Ti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1554480"/>
            <a:ext cx="274320" cy="274320"/>
          </a:xfrm>
          <a:prstGeom prst="rect">
            <a:avLst/>
          </a:prstGeom>
        </p:spPr>
      </p:pic>
      <p:sp>
        <p:nvSpPr>
          <p:cNvPr id="6" name="Tier name 1"/>
          <p:cNvSpPr txBox="1"/>
          <p:nvPr/>
        </p:nvSpPr>
        <p:spPr>
          <a:xfrm>
            <a:off x="57150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React.js</a:t>
            </a:r>
            <a:endParaRPr lang="en-US" sz="1600" dirty="0"/>
          </a:p>
        </p:txBody>
      </p:sp>
      <p:sp>
        <p:nvSpPr>
          <p:cNvPr id="7" name="Tier text 1"/>
          <p:cNvSpPr txBox="1"/>
          <p:nvPr/>
        </p:nvSpPr>
        <p:spPr>
          <a:xfrm>
            <a:off x="571500" y="24414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Forms, lists, dashboard</a:t>
            </a:r>
            <a:endParaRPr lang="en-US" sz="1400" dirty="0"/>
          </a:p>
        </p:txBody>
      </p:sp>
      <p:sp>
        <p:nvSpPr>
          <p:cNvPr id="8" name="Flow arrow 1"/>
          <p:cNvSpPr/>
          <p:nvPr/>
        </p:nvSpPr>
        <p:spPr>
          <a:xfrm>
            <a:off x="2244852" y="2171700"/>
            <a:ext cx="356616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Tier 2"/>
          <p:cNvSpPr/>
          <p:nvPr/>
        </p:nvSpPr>
        <p:spPr>
          <a:xfrm>
            <a:off x="2628900" y="1280160"/>
            <a:ext cx="1737360" cy="178308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ier 2 circle"/>
          <p:cNvSpPr/>
          <p:nvPr/>
        </p:nvSpPr>
        <p:spPr>
          <a:xfrm>
            <a:off x="322326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Tier 2 icon" descr="Tier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420" y="1554480"/>
            <a:ext cx="274320" cy="274320"/>
          </a:xfrm>
          <a:prstGeom prst="rect">
            <a:avLst/>
          </a:prstGeom>
        </p:spPr>
      </p:pic>
      <p:sp>
        <p:nvSpPr>
          <p:cNvPr id="12" name="Tier name 2"/>
          <p:cNvSpPr txBox="1"/>
          <p:nvPr/>
        </p:nvSpPr>
        <p:spPr>
          <a:xfrm>
            <a:off x="272034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Express + Node</a:t>
            </a:r>
            <a:endParaRPr lang="en-US" sz="1600" dirty="0"/>
          </a:p>
        </p:txBody>
      </p:sp>
      <p:sp>
        <p:nvSpPr>
          <p:cNvPr id="13" name="Tier text 2"/>
          <p:cNvSpPr txBox="1"/>
          <p:nvPr/>
        </p:nvSpPr>
        <p:spPr>
          <a:xfrm>
            <a:off x="2720340" y="24414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REST API, auth, validation</a:t>
            </a:r>
            <a:endParaRPr lang="en-US" sz="1400" dirty="0"/>
          </a:p>
        </p:txBody>
      </p:sp>
      <p:sp>
        <p:nvSpPr>
          <p:cNvPr id="14" name="Flow arrow 2"/>
          <p:cNvSpPr/>
          <p:nvPr/>
        </p:nvSpPr>
        <p:spPr>
          <a:xfrm>
            <a:off x="4393692" y="2171700"/>
            <a:ext cx="356616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Tier 3"/>
          <p:cNvSpPr/>
          <p:nvPr/>
        </p:nvSpPr>
        <p:spPr>
          <a:xfrm>
            <a:off x="4777740" y="1280160"/>
            <a:ext cx="1737360" cy="178308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ier 3 circle"/>
          <p:cNvSpPr/>
          <p:nvPr/>
        </p:nvSpPr>
        <p:spPr>
          <a:xfrm>
            <a:off x="537210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Tier 3 icon" descr="Tier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9260" y="1554480"/>
            <a:ext cx="274320" cy="274320"/>
          </a:xfrm>
          <a:prstGeom prst="rect">
            <a:avLst/>
          </a:prstGeom>
        </p:spPr>
      </p:pic>
      <p:sp>
        <p:nvSpPr>
          <p:cNvPr id="18" name="Tier name 3"/>
          <p:cNvSpPr txBox="1"/>
          <p:nvPr/>
        </p:nvSpPr>
        <p:spPr>
          <a:xfrm>
            <a:off x="486918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Mongoose</a:t>
            </a:r>
            <a:endParaRPr lang="en-US" sz="1600" dirty="0"/>
          </a:p>
        </p:txBody>
      </p:sp>
      <p:sp>
        <p:nvSpPr>
          <p:cNvPr id="19" name="Tier text 3"/>
          <p:cNvSpPr txBox="1"/>
          <p:nvPr/>
        </p:nvSpPr>
        <p:spPr>
          <a:xfrm>
            <a:off x="4869180" y="24414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Schemas and models</a:t>
            </a:r>
            <a:endParaRPr lang="en-US" sz="1400" dirty="0"/>
          </a:p>
        </p:txBody>
      </p:sp>
      <p:sp>
        <p:nvSpPr>
          <p:cNvPr id="20" name="Flow arrow 3"/>
          <p:cNvSpPr/>
          <p:nvPr/>
        </p:nvSpPr>
        <p:spPr>
          <a:xfrm>
            <a:off x="6542532" y="2171700"/>
            <a:ext cx="356616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ier 4"/>
          <p:cNvSpPr/>
          <p:nvPr/>
        </p:nvSpPr>
        <p:spPr>
          <a:xfrm>
            <a:off x="6926580" y="1280160"/>
            <a:ext cx="1737360" cy="178308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ier 4 circle"/>
          <p:cNvSpPr/>
          <p:nvPr/>
        </p:nvSpPr>
        <p:spPr>
          <a:xfrm>
            <a:off x="752094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Tier 4 icon" descr="Tier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0" y="1554480"/>
            <a:ext cx="274320" cy="274320"/>
          </a:xfrm>
          <a:prstGeom prst="rect">
            <a:avLst/>
          </a:prstGeom>
        </p:spPr>
      </p:pic>
      <p:sp>
        <p:nvSpPr>
          <p:cNvPr id="24" name="Tier name 4"/>
          <p:cNvSpPr txBox="1"/>
          <p:nvPr/>
        </p:nvSpPr>
        <p:spPr>
          <a:xfrm>
            <a:off x="701802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MongoDB</a:t>
            </a:r>
            <a:endParaRPr lang="en-US" sz="1600" dirty="0"/>
          </a:p>
        </p:txBody>
      </p:sp>
      <p:sp>
        <p:nvSpPr>
          <p:cNvPr id="25" name="Tier text 4"/>
          <p:cNvSpPr txBox="1"/>
          <p:nvPr/>
        </p:nvSpPr>
        <p:spPr>
          <a:xfrm>
            <a:off x="7018020" y="24414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Reports and users</a:t>
            </a:r>
            <a:endParaRPr lang="en-US" sz="1400" dirty="0"/>
          </a:p>
        </p:txBody>
      </p:sp>
      <p:sp>
        <p:nvSpPr>
          <p:cNvPr id="26" name="Support card 1"/>
          <p:cNvSpPr/>
          <p:nvPr/>
        </p:nvSpPr>
        <p:spPr>
          <a:xfrm>
            <a:off x="457200" y="338328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upport title 1"/>
          <p:cNvSpPr txBox="1"/>
          <p:nvPr/>
        </p:nvSpPr>
        <p:spPr>
          <a:xfrm>
            <a:off x="640080" y="3493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JWT + bcrypt</a:t>
            </a:r>
            <a:endParaRPr lang="en-US" sz="1600" dirty="0"/>
          </a:p>
        </p:txBody>
      </p:sp>
      <p:sp>
        <p:nvSpPr>
          <p:cNvPr id="28" name="Support text 1"/>
          <p:cNvSpPr txBox="1"/>
          <p:nvPr/>
        </p:nvSpPr>
        <p:spPr>
          <a:xfrm>
            <a:off x="64008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Secure login and protected routes</a:t>
            </a:r>
            <a:endParaRPr lang="en-US" sz="1400" dirty="0"/>
          </a:p>
        </p:txBody>
      </p:sp>
      <p:sp>
        <p:nvSpPr>
          <p:cNvPr id="29" name="Support card 2"/>
          <p:cNvSpPr/>
          <p:nvPr/>
        </p:nvSpPr>
        <p:spPr>
          <a:xfrm>
            <a:off x="3291840" y="338328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upport title 2"/>
          <p:cNvSpPr txBox="1"/>
          <p:nvPr/>
        </p:nvSpPr>
        <p:spPr>
          <a:xfrm>
            <a:off x="3474720" y="3493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Multer</a:t>
            </a:r>
            <a:endParaRPr lang="en-US" sz="1600" dirty="0"/>
          </a:p>
        </p:txBody>
      </p:sp>
      <p:sp>
        <p:nvSpPr>
          <p:cNvPr id="31" name="Support text 2"/>
          <p:cNvSpPr txBox="1"/>
          <p:nvPr/>
        </p:nvSpPr>
        <p:spPr>
          <a:xfrm>
            <a:off x="347472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Handles damage photo uploads</a:t>
            </a:r>
            <a:endParaRPr lang="en-US" sz="1400" dirty="0"/>
          </a:p>
        </p:txBody>
      </p:sp>
      <p:sp>
        <p:nvSpPr>
          <p:cNvPr id="32" name="Support card 3"/>
          <p:cNvSpPr/>
          <p:nvPr/>
        </p:nvSpPr>
        <p:spPr>
          <a:xfrm>
            <a:off x="6126480" y="338328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Support title 3"/>
          <p:cNvSpPr txBox="1"/>
          <p:nvPr/>
        </p:nvSpPr>
        <p:spPr>
          <a:xfrm>
            <a:off x="6309360" y="3493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Axios</a:t>
            </a:r>
            <a:endParaRPr lang="en-US" sz="1600" dirty="0"/>
          </a:p>
        </p:txBody>
      </p:sp>
      <p:sp>
        <p:nvSpPr>
          <p:cNvPr id="34" name="Support text 3"/>
          <p:cNvSpPr txBox="1"/>
          <p:nvPr/>
        </p:nvSpPr>
        <p:spPr>
          <a:xfrm>
            <a:off x="630936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React calls the REST APIs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A404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Database Design</a:t>
            </a:r>
            <a:endParaRPr lang="en-US" sz="3400" dirty="0"/>
          </a:p>
        </p:txBody>
      </p:sp>
      <p:sp>
        <p:nvSpPr>
          <p:cNvPr id="3" name="Report heading"/>
          <p:cNvSpPr txBox="1"/>
          <p:nvPr/>
        </p:nvSpPr>
        <p:spPr>
          <a:xfrm>
            <a:off x="457200" y="1188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Report collection</a:t>
            </a:r>
            <a:endParaRPr lang="en-US" sz="2000" dirty="0"/>
          </a:p>
        </p:txBody>
      </p:sp>
      <p:graphicFrame>
        <p:nvGraphicFramePr>
          <p:cNvPr id="6" name="Repor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493776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Stores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location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address + latitude / longitude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damageType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pothole, crack, other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image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uploaded photo path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description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details from the reporter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Reported to Resolved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reportedBy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reference to User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User heading"/>
          <p:cNvSpPr txBox="1"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User collection</a:t>
            </a:r>
            <a:endParaRPr lang="en-US" sz="2000" dirty="0"/>
          </a:p>
        </p:txBody>
      </p:sp>
      <p:graphicFrame>
        <p:nvGraphicFramePr>
          <p:cNvPr id="11" name="Us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45920"/>
          <a:ext cx="292608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Stores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full name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email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unique login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password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bcrypt hash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user or admin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lation card"/>
          <p:cNvSpPr/>
          <p:nvPr/>
        </p:nvSpPr>
        <p:spPr>
          <a:xfrm>
            <a:off x="5760720" y="3703320"/>
            <a:ext cx="292608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Relation text"/>
          <p:cNvSpPr txBox="1"/>
          <p:nvPr/>
        </p:nvSpPr>
        <p:spPr>
          <a:xfrm>
            <a:off x="5897880" y="3749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One user can file many reports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A404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REST API &amp; CRUD Operations</a:t>
            </a:r>
            <a:endParaRPr lang="en-US" sz="3400" dirty="0"/>
          </a:p>
        </p:txBody>
      </p:sp>
      <p:graphicFrame>
        <p:nvGraphicFramePr>
          <p:cNvPr id="7" name="API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/api/auth/register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Create an account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Public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/api/auth/login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Log in and receive JWT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Public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/api/reports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Create report with image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User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/api/reports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List and filter reports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User / Admin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/api/reports/:id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View one report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User / Admin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PUT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/api/reports/:id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Edit report details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PATCH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/api/reports/:id/status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Update repair status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Admin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26"/>
                          </a:solidFill>
                        </a:rPr>
                        <a:t>DELETE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/api/reports/:id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Delete a report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326"/>
                          </a:solidFill>
                        </a:rPr>
                        <a:t>Owner / Admin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A404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Authentication &amp; Role-Based Access</a:t>
            </a:r>
            <a:endParaRPr lang="en-US" sz="3400" dirty="0"/>
          </a:p>
        </p:txBody>
      </p:sp>
      <p:sp>
        <p:nvSpPr>
          <p:cNvPr id="3" name="Citizen card"/>
          <p:cNvSpPr/>
          <p:nvPr/>
        </p:nvSpPr>
        <p:spPr>
          <a:xfrm>
            <a:off x="457200" y="1280160"/>
            <a:ext cx="39776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tizen circle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itizen icon" descr="Citiz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00200"/>
            <a:ext cx="274320" cy="274320"/>
          </a:xfrm>
          <a:prstGeom prst="rect">
            <a:avLst/>
          </a:prstGeom>
        </p:spPr>
      </p:pic>
      <p:sp>
        <p:nvSpPr>
          <p:cNvPr id="6" name="Citizen heading"/>
          <p:cNvSpPr txBox="1"/>
          <p:nvPr/>
        </p:nvSpPr>
        <p:spPr>
          <a:xfrm>
            <a:off x="141732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Citizen</a:t>
            </a:r>
            <a:endParaRPr lang="en-US" sz="2200" dirty="0"/>
          </a:p>
        </p:txBody>
      </p:sp>
      <p:sp>
        <p:nvSpPr>
          <p:cNvPr id="7" name="Citizen bullets"/>
          <p:cNvSpPr txBox="1"/>
          <p:nvPr/>
        </p:nvSpPr>
        <p:spPr>
          <a:xfrm>
            <a:off x="731520" y="219456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Register and log 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 damage with photo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Edit or delete own reports</a:t>
            </a:r>
            <a:endParaRPr lang="en-US" sz="1400" dirty="0"/>
          </a:p>
        </p:txBody>
      </p:sp>
      <p:sp>
        <p:nvSpPr>
          <p:cNvPr id="8" name="Admin card"/>
          <p:cNvSpPr/>
          <p:nvPr/>
        </p:nvSpPr>
        <p:spPr>
          <a:xfrm>
            <a:off x="4709160" y="1280160"/>
            <a:ext cx="39776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dmin circle"/>
          <p:cNvSpPr/>
          <p:nvPr/>
        </p:nvSpPr>
        <p:spPr>
          <a:xfrm>
            <a:off x="49834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Admin icon" descr="Adm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600200"/>
            <a:ext cx="274320" cy="274320"/>
          </a:xfrm>
          <a:prstGeom prst="rect">
            <a:avLst/>
          </a:prstGeom>
        </p:spPr>
      </p:pic>
      <p:sp>
        <p:nvSpPr>
          <p:cNvPr id="11" name="Admin heading"/>
          <p:cNvSpPr txBox="1"/>
          <p:nvPr/>
        </p:nvSpPr>
        <p:spPr>
          <a:xfrm>
            <a:off x="566928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Admin</a:t>
            </a:r>
            <a:endParaRPr lang="en-US" sz="2200" dirty="0"/>
          </a:p>
        </p:txBody>
      </p:sp>
      <p:sp>
        <p:nvSpPr>
          <p:cNvPr id="12" name="Admin bullets"/>
          <p:cNvSpPr txBox="1"/>
          <p:nvPr/>
        </p:nvSpPr>
        <p:spPr>
          <a:xfrm>
            <a:off x="4983480" y="219456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 and filter all reports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Update repair status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Delete any report</a:t>
            </a:r>
            <a:endParaRPr lang="en-US" sz="1400" dirty="0"/>
          </a:p>
        </p:txBody>
      </p:sp>
      <p:sp>
        <p:nvSpPr>
          <p:cNvPr id="13" name="Screens label"/>
          <p:cNvSpPr txBox="1"/>
          <p:nvPr/>
        </p:nvSpPr>
        <p:spPr>
          <a:xfrm>
            <a:off x="4572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Key React screens</a:t>
            </a:r>
            <a:endParaRPr lang="en-US" sz="1400" dirty="0"/>
          </a:p>
        </p:txBody>
      </p:sp>
      <p:sp>
        <p:nvSpPr>
          <p:cNvPr id="14" name="Screen chip 1"/>
          <p:cNvSpPr/>
          <p:nvPr/>
        </p:nvSpPr>
        <p:spPr>
          <a:xfrm>
            <a:off x="457200" y="3931920"/>
            <a:ext cx="19202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Screen name 1"/>
          <p:cNvSpPr txBox="1"/>
          <p:nvPr/>
        </p:nvSpPr>
        <p:spPr>
          <a:xfrm>
            <a:off x="457200" y="3931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Login / Register</a:t>
            </a:r>
            <a:endParaRPr lang="en-US" sz="1400" dirty="0"/>
          </a:p>
        </p:txBody>
      </p:sp>
      <p:sp>
        <p:nvSpPr>
          <p:cNvPr id="16" name="Screen chip 2"/>
          <p:cNvSpPr/>
          <p:nvPr/>
        </p:nvSpPr>
        <p:spPr>
          <a:xfrm>
            <a:off x="2560320" y="3931920"/>
            <a:ext cx="19202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Screen name 2"/>
          <p:cNvSpPr txBox="1"/>
          <p:nvPr/>
        </p:nvSpPr>
        <p:spPr>
          <a:xfrm>
            <a:off x="2560320" y="3931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Report Form</a:t>
            </a:r>
            <a:endParaRPr lang="en-US" sz="1400" dirty="0"/>
          </a:p>
        </p:txBody>
      </p:sp>
      <p:sp>
        <p:nvSpPr>
          <p:cNvPr id="18" name="Screen chip 3"/>
          <p:cNvSpPr/>
          <p:nvPr/>
        </p:nvSpPr>
        <p:spPr>
          <a:xfrm>
            <a:off x="4663440" y="3931920"/>
            <a:ext cx="19202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Screen name 3"/>
          <p:cNvSpPr txBox="1"/>
          <p:nvPr/>
        </p:nvSpPr>
        <p:spPr>
          <a:xfrm>
            <a:off x="4663440" y="3931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My Reports</a:t>
            </a:r>
            <a:endParaRPr lang="en-US" sz="1400" dirty="0"/>
          </a:p>
        </p:txBody>
      </p:sp>
      <p:sp>
        <p:nvSpPr>
          <p:cNvPr id="20" name="Screen chip 4"/>
          <p:cNvSpPr/>
          <p:nvPr/>
        </p:nvSpPr>
        <p:spPr>
          <a:xfrm>
            <a:off x="6766560" y="3931920"/>
            <a:ext cx="19202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Screen name 4"/>
          <p:cNvSpPr txBox="1"/>
          <p:nvPr/>
        </p:nvSpPr>
        <p:spPr>
          <a:xfrm>
            <a:off x="6766560" y="3931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Admin Dashboard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A404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Results &amp; Future Scope</a:t>
            </a:r>
            <a:endParaRPr lang="en-US" sz="3400" dirty="0"/>
          </a:p>
        </p:txBody>
      </p:sp>
      <p:sp>
        <p:nvSpPr>
          <p:cNvPr id="3" name="Delivered heading"/>
          <p:cNvSpPr txBox="1"/>
          <p:nvPr/>
        </p:nvSpPr>
        <p:spPr>
          <a:xfrm>
            <a:off x="45720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we delivered</a:t>
            </a:r>
            <a:endParaRPr lang="en-US" sz="2000" dirty="0"/>
          </a:p>
        </p:txBody>
      </p:sp>
      <p:sp>
        <p:nvSpPr>
          <p:cNvPr id="4" name="Delivered 1 circle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Delivered 1 icon" descr="Delivere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97380"/>
            <a:ext cx="228600" cy="228600"/>
          </a:xfrm>
          <a:prstGeom prst="rect">
            <a:avLst/>
          </a:prstGeom>
        </p:spPr>
      </p:pic>
      <p:sp>
        <p:nvSpPr>
          <p:cNvPr id="6" name="Delivered text 1"/>
          <p:cNvSpPr txBox="1"/>
          <p:nvPr/>
        </p:nvSpPr>
        <p:spPr>
          <a:xfrm>
            <a:off x="1097280" y="1737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Working MERN app with full CRUD</a:t>
            </a:r>
            <a:endParaRPr lang="en-US" sz="1400" dirty="0"/>
          </a:p>
        </p:txBody>
      </p:sp>
      <p:sp>
        <p:nvSpPr>
          <p:cNvPr id="7" name="Delivered 2 circle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Delivered 2 icon" descr="Delivere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3180"/>
            <a:ext cx="228600" cy="228600"/>
          </a:xfrm>
          <a:prstGeom prst="rect">
            <a:avLst/>
          </a:prstGeom>
        </p:spPr>
      </p:pic>
      <p:sp>
        <p:nvSpPr>
          <p:cNvPr id="9" name="Delivered text 2"/>
          <p:cNvSpPr txBox="1"/>
          <p:nvPr/>
        </p:nvSpPr>
        <p:spPr>
          <a:xfrm>
            <a:off x="109728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Secure JWT login with user and admin roles</a:t>
            </a:r>
            <a:endParaRPr lang="en-US" sz="1400" dirty="0"/>
          </a:p>
        </p:txBody>
      </p:sp>
      <p:sp>
        <p:nvSpPr>
          <p:cNvPr id="10" name="Delivered 3 circle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Delivered 3 icon" descr="Delivere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68980"/>
            <a:ext cx="228600" cy="228600"/>
          </a:xfrm>
          <a:prstGeom prst="rect">
            <a:avLst/>
          </a:prstGeom>
        </p:spPr>
      </p:pic>
      <p:sp>
        <p:nvSpPr>
          <p:cNvPr id="12" name="Delivered text 3"/>
          <p:cNvSpPr txBox="1"/>
          <p:nvPr/>
        </p:nvSpPr>
        <p:spPr>
          <a:xfrm>
            <a:off x="1097280" y="3108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Photo upload with location and damage type</a:t>
            </a:r>
            <a:endParaRPr lang="en-US" sz="1400" dirty="0"/>
          </a:p>
        </p:txBody>
      </p:sp>
      <p:sp>
        <p:nvSpPr>
          <p:cNvPr id="13" name="Delivered 4 circle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Delivered 4 icon" descr="Delivere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54780"/>
            <a:ext cx="228600" cy="228600"/>
          </a:xfrm>
          <a:prstGeom prst="rect">
            <a:avLst/>
          </a:prstGeom>
        </p:spPr>
      </p:pic>
      <p:sp>
        <p:nvSpPr>
          <p:cNvPr id="15" name="Delivered text 4"/>
          <p:cNvSpPr txBox="1"/>
          <p:nvPr/>
        </p:nvSpPr>
        <p:spPr>
          <a:xfrm>
            <a:off x="1097280" y="3794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Status tracking from Reported to Resolved</a:t>
            </a:r>
            <a:endParaRPr lang="en-US" sz="1400" dirty="0"/>
          </a:p>
        </p:txBody>
      </p:sp>
      <p:sp>
        <p:nvSpPr>
          <p:cNvPr id="16" name="Future card"/>
          <p:cNvSpPr/>
          <p:nvPr/>
        </p:nvSpPr>
        <p:spPr>
          <a:xfrm>
            <a:off x="4937760" y="1234440"/>
            <a:ext cx="374904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Future heading"/>
          <p:cNvSpPr txBox="1"/>
          <p:nvPr/>
        </p:nvSpPr>
        <p:spPr>
          <a:xfrm>
            <a:off x="521208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8" name="Future bullets"/>
          <p:cNvSpPr txBox="1"/>
          <p:nvPr/>
        </p:nvSpPr>
        <p:spPr>
          <a:xfrm>
            <a:off x="5212080" y="201168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GPS auto-detect and map view of damage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Email / SMS alerts on status changes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Heatmap analytics of damaged areas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Installable mobile-friendly PWA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d Safety">
  <a:themeElements>
    <a:clrScheme name="Road Safety">
      <a:dk1>
        <a:srgbClr val="1F2326"/>
      </a:dk1>
      <a:lt1>
        <a:srgbClr val="FFFFFF"/>
      </a:lt1>
      <a:dk2>
        <a:srgbClr val="3A4047"/>
      </a:dk2>
      <a:lt2>
        <a:srgbClr val="F3F4F6"/>
      </a:lt2>
      <a:accent1>
        <a:srgbClr val="F5B700"/>
      </a:accent1>
      <a:accent2>
        <a:srgbClr val="E4572E"/>
      </a:accent2>
      <a:accent3>
        <a:srgbClr val="2A9D8F"/>
      </a:accent3>
      <a:accent4>
        <a:srgbClr val="9CA3AF"/>
      </a:accent4>
      <a:accent5>
        <a:srgbClr val="8D5A97"/>
      </a:accent5>
      <a:accent6>
        <a:srgbClr val="4C8C4A"/>
      </a:accent6>
      <a:hlink>
        <a:srgbClr val="2A9D8F"/>
      </a:hlink>
      <a:folHlink>
        <a:srgbClr val="8D5A97"/>
      </a:folHlink>
    </a:clrScheme>
    <a:fontScheme name="Road Safe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727</Words>
  <Application>Microsoft Office PowerPoint</Application>
  <PresentationFormat>On-screen Show (16:9)</PresentationFormat>
  <Paragraphs>160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Road Safety</vt:lpstr>
      <vt:lpstr>Road Damage Reporting System</vt:lpstr>
      <vt:lpstr>Problem Statement</vt:lpstr>
      <vt:lpstr>Project Objectives</vt:lpstr>
      <vt:lpstr>System Architecture</vt:lpstr>
      <vt:lpstr>Database Design</vt:lpstr>
      <vt:lpstr>REST API &amp; CRUD Operations</vt:lpstr>
      <vt:lpstr>Authentication &amp; Role-Based Access</vt:lpstr>
      <vt:lpstr>Results &amp; Future Scope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Damage Reporting System</dc:title>
  <dc:subject>PptxGenJS Presentation</dc:subject>
  <dc:creator>PptxGenJS</dc:creator>
  <cp:lastModifiedBy>PRAMODH BIRADAR</cp:lastModifiedBy>
  <cp:revision>2</cp:revision>
  <dcterms:created xsi:type="dcterms:W3CDTF">2026-10-10T04:19:05Z</dcterms:created>
  <dcterms:modified xsi:type="dcterms:W3CDTF">2026-10-10T04:31:18Z</dcterms:modified>
</cp:coreProperties>
</file>